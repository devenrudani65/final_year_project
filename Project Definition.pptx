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9" r:id="rId3"/>
    <p:sldId id="272" r:id="rId4"/>
    <p:sldId id="273" r:id="rId5"/>
    <p:sldId id="274" r:id="rId6"/>
    <p:sldId id="275" r:id="rId7"/>
    <p:sldId id="276" r:id="rId8"/>
    <p:sldId id="280" r:id="rId9"/>
    <p:sldId id="277" r:id="rId10"/>
    <p:sldId id="278" r:id="rId11"/>
    <p:sldId id="279" r:id="rId12"/>
    <p:sldId id="281" r:id="rId13"/>
    <p:sldId id="282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3680E88-62F8-43CE-99E2-3A5940A4537E}">
          <p14:sldIdLst>
            <p14:sldId id="256"/>
            <p14:sldId id="259"/>
            <p14:sldId id="272"/>
            <p14:sldId id="273"/>
            <p14:sldId id="274"/>
            <p14:sldId id="275"/>
            <p14:sldId id="276"/>
            <p14:sldId id="280"/>
            <p14:sldId id="277"/>
            <p14:sldId id="278"/>
            <p14:sldId id="279"/>
            <p14:sldId id="281"/>
            <p14:sldId id="28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2CC0B2-3FC3-4853-83C6-93B7782E8085}" v="55" dt="2026-02-04T15:17:06.3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ven rudani" userId="8714ec4e067e5f7b" providerId="LiveId" clId="{58AD5436-99DD-4E72-B25B-30D3128BA3FE}"/>
    <pc:docChg chg="modSld">
      <pc:chgData name="deven rudani" userId="8714ec4e067e5f7b" providerId="LiveId" clId="{58AD5436-99DD-4E72-B25B-30D3128BA3FE}" dt="2026-02-04T15:22:21.705" v="10" actId="113"/>
      <pc:docMkLst>
        <pc:docMk/>
      </pc:docMkLst>
      <pc:sldChg chg="modSp mod">
        <pc:chgData name="deven rudani" userId="8714ec4e067e5f7b" providerId="LiveId" clId="{58AD5436-99DD-4E72-B25B-30D3128BA3FE}" dt="2026-02-04T15:22:21.705" v="10" actId="113"/>
        <pc:sldMkLst>
          <pc:docMk/>
          <pc:sldMk cId="0" sldId="265"/>
        </pc:sldMkLst>
        <pc:spChg chg="mod">
          <ac:chgData name="deven rudani" userId="8714ec4e067e5f7b" providerId="LiveId" clId="{58AD5436-99DD-4E72-B25B-30D3128BA3FE}" dt="2026-02-04T15:22:21.705" v="10" actId="113"/>
          <ac:spMkLst>
            <pc:docMk/>
            <pc:sldMk cId="0" sldId="265"/>
            <ac:spMk id="18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88D0147-F182-9EEB-4E07-52DB9891D6A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85DA94-7F86-6054-818F-4DA171089B9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1D3BD-5F98-44BB-9066-7643263BEC09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D34A2F-EDEC-76EC-9969-229463FA06D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79781F-E216-7541-8A3C-D7E51C69C4B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E4DDBE-5145-43D9-8A0B-45229DC40D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6271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215C74-8DC3-42F6-AC92-6F2486F96FB5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59E1B-3DB5-4551-97A6-7DC7E9BA9F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7196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1917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97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1898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6005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8624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8288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9859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1863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2589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063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77D38-F8D2-41EC-ECF3-8ABD4FFD4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1271C2-569F-27ED-6FDC-7D7939E97D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16B32D-5A54-82F8-F64E-D2E47D82B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C5A447-0C53-30E5-F5DD-4B6E4B0348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9495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5F49A-07E1-450A-99F8-CE9507175B15}" type="datetime1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8B63-CEEB-40B6-812A-8994CDE165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2107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7C34E-8098-426D-A162-033A7A300F37}" type="datetime1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8B63-CEEB-40B6-812A-8994CDE165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2578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3BF27-1A2E-44AE-B151-BE9009C738CF}" type="datetime1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8B63-CEEB-40B6-812A-8994CDE165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5835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BBF91-A2A8-405E-8F65-3CAB35C41E89}" type="datetime1">
              <a:rPr lang="en-IN" smtClean="0"/>
              <a:t>07-03-2026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8B63-CEEB-40B6-812A-8994CDE165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9158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99241-42A0-4DBA-8EB5-C8A7E0EA230B}" type="datetime1">
              <a:rPr lang="en-IN" smtClean="0"/>
              <a:t>07-03-2026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8B63-CEEB-40B6-812A-8994CDE165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1195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E685F-BFAD-4725-8B33-9C9F154796BA}" type="datetime1">
              <a:rPr lang="en-IN" smtClean="0"/>
              <a:t>07-03-2026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8B63-CEEB-40B6-812A-8994CDE165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6719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87E55-1C7F-430F-84B8-893D3DF9F8B1}" type="datetime1">
              <a:rPr lang="en-IN" smtClean="0"/>
              <a:t>07-03-2026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8B63-CEEB-40B6-812A-8994CDE165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94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AEAAF-08FA-468C-8DB7-0E3DE0AFDECC}" type="datetime1">
              <a:rPr lang="en-IN" smtClean="0"/>
              <a:t>07-03-2026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8B63-CEEB-40B6-812A-8994CDE165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9359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5DA3A-D1C4-408A-B424-83284359CC85}" type="datetime1">
              <a:rPr lang="en-IN" smtClean="0"/>
              <a:t>07-03-2026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8B63-CEEB-40B6-812A-8994CDE165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1985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6AA02-882A-4931-B83D-BD05928F03DA}" type="datetime1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8B63-CEEB-40B6-812A-8994CDE165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2751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6B8BC-C8DF-4500-AF5C-00085AFCECF0}" type="datetime1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8B63-CEEB-40B6-812A-8994CDE165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5170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D8E70B-6A08-4B32-A026-C8979D0F0892}" type="datetime1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2D8B63-CEEB-40B6-812A-8994CDE165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8984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svg"/><Relationship Id="rId3" Type="http://schemas.openxmlformats.org/officeDocument/2006/relationships/image" Target="../media/image3.png"/><Relationship Id="rId7" Type="http://schemas.openxmlformats.org/officeDocument/2006/relationships/image" Target="../media/image9.sv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5" Type="http://schemas.openxmlformats.org/officeDocument/2006/relationships/image" Target="../media/image17.sv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svg"/><Relationship Id="rId1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hyperlink" Target="https://www.kaggle.com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tesseract-ocr.github.io/?utm_source=chatgpt.com" TargetMode="External"/><Relationship Id="rId5" Type="http://schemas.openxmlformats.org/officeDocument/2006/relationships/hyperlink" Target="https://www.tensorflow.org/" TargetMode="External"/><Relationship Id="rId4" Type="http://schemas.openxmlformats.org/officeDocument/2006/relationships/hyperlink" Target="https://scikit-learn.org/?utm_source=chatgpt.com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8EDBF-3684-5E17-072D-73719826BC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7" y="2156131"/>
            <a:ext cx="9144000" cy="84908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38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AI for Early Detection</a:t>
            </a:r>
            <a:endParaRPr lang="en-IN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8853CE-6BB5-AF0B-2619-62E8EDBC2B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71134" y="3005217"/>
            <a:ext cx="5049727" cy="1907177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by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–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Rudani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Devenkumar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Rajeshbhai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Enrollment No -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220670107079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 –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Prof. Lipi Kothari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EB65900-A144-040B-CA3E-886B527FF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849" y="194422"/>
            <a:ext cx="1793565" cy="134278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A3B5C34-1933-D502-76F4-6F8ED557DF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0304" y="248954"/>
            <a:ext cx="2451847" cy="1171438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EF8853CE-6BB5-AF0B-2619-62E8EDBC2BCF}"/>
              </a:ext>
            </a:extLst>
          </p:cNvPr>
          <p:cNvSpPr txBox="1">
            <a:spLocks/>
          </p:cNvSpPr>
          <p:nvPr/>
        </p:nvSpPr>
        <p:spPr>
          <a:xfrm>
            <a:off x="1537059" y="5096035"/>
            <a:ext cx="9117875" cy="15675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Engineering</a:t>
            </a: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 INSTITUTE OF TECHNOLOGY AND ENGINEERING RESEARCH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98901F-AEF7-33B9-6E3D-1CA7B7923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8B63-CEEB-40B6-812A-8994CDE1651E}" type="slidenum">
              <a:rPr lang="en-IN" smtClean="0"/>
              <a:pPr/>
              <a:t>1</a:t>
            </a:fld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D58FA7B-2959-BAD5-3087-1E86941B8020}"/>
              </a:ext>
            </a:extLst>
          </p:cNvPr>
          <p:cNvSpPr/>
          <p:nvPr/>
        </p:nvSpPr>
        <p:spPr>
          <a:xfrm>
            <a:off x="10898155" y="6356350"/>
            <a:ext cx="597159" cy="3072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4516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10C4867-4994-169C-A7D4-E365291AC0B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108"/>
            <a:ext cx="12192000" cy="6860107"/>
          </a:xfrm>
          <a:prstGeom prst="rect">
            <a:avLst/>
          </a:prstGeom>
        </p:spPr>
      </p:pic>
      <p:sp>
        <p:nvSpPr>
          <p:cNvPr id="13" name="Text 0">
            <a:extLst>
              <a:ext uri="{FF2B5EF4-FFF2-40B4-BE49-F238E27FC236}">
                <a16:creationId xmlns:a16="http://schemas.microsoft.com/office/drawing/2014/main" id="{6C4EF20F-D51B-2053-3A35-4C753E3C6B0E}"/>
              </a:ext>
            </a:extLst>
          </p:cNvPr>
          <p:cNvSpPr/>
          <p:nvPr/>
        </p:nvSpPr>
        <p:spPr>
          <a:xfrm>
            <a:off x="5233490" y="1645875"/>
            <a:ext cx="6297017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708" b="1" dirty="0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Microsoft Elevate :- </a:t>
            </a:r>
            <a:endParaRPr lang="en-US" sz="3708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DED39E7C-CDE0-F9AE-7BBD-4D7732BB1160}"/>
              </a:ext>
            </a:extLst>
          </p:cNvPr>
          <p:cNvSpPr/>
          <p:nvPr/>
        </p:nvSpPr>
        <p:spPr>
          <a:xfrm>
            <a:off x="5233490" y="2703571"/>
            <a:ext cx="6297017" cy="2829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58" dirty="0">
                <a:solidFill>
                  <a:srgbClr val="404155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Microsoft Elevate is part of Microsoft’s global initiative focused on empowering learners, students, and professionals with in-demand AI, cloud, and data skills in an AI-driven economy. It brings together Microsoft’s education, technology support, and skill development efforts to help people grow and succeed with cutting-edge tools and real-world learning opportunities. </a:t>
            </a:r>
          </a:p>
          <a:p>
            <a:pPr algn="just">
              <a:lnSpc>
                <a:spcPct val="150000"/>
              </a:lnSpc>
            </a:pPr>
            <a:endParaRPr lang="en-US" sz="1458" dirty="0">
              <a:solidFill>
                <a:srgbClr val="404155"/>
              </a:solidFill>
              <a:latin typeface="Times New Roman" panose="02020603050405020304" pitchFamily="18" charset="0"/>
              <a:ea typeface="Nobile" pitchFamily="34" charset="-122"/>
              <a:cs typeface="Times New Roman" panose="02020603050405020304" pitchFamily="18" charset="0"/>
            </a:endParaRPr>
          </a:p>
          <a:p>
            <a:r>
              <a:rPr lang="en-US" sz="1458" b="1" dirty="0">
                <a:solidFill>
                  <a:srgbClr val="404155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Organized by: </a:t>
            </a:r>
            <a:r>
              <a:rPr lang="en-US" sz="1458" dirty="0">
                <a:solidFill>
                  <a:srgbClr val="404155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Microsoft in partnership with FICE.</a:t>
            </a:r>
          </a:p>
          <a:p>
            <a:pPr>
              <a:lnSpc>
                <a:spcPts val="2850"/>
              </a:lnSpc>
            </a:pPr>
            <a:endParaRPr lang="en-US" sz="145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2" descr="Microsoft Elevate - Credly">
            <a:extLst>
              <a:ext uri="{FF2B5EF4-FFF2-40B4-BE49-F238E27FC236}">
                <a16:creationId xmlns:a16="http://schemas.microsoft.com/office/drawing/2014/main" id="{8235DF33-FC60-6774-1BC1-A8B2D17490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901" y="296344"/>
            <a:ext cx="3853544" cy="4013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">
            <a:extLst>
              <a:ext uri="{FF2B5EF4-FFF2-40B4-BE49-F238E27FC236}">
                <a16:creationId xmlns:a16="http://schemas.microsoft.com/office/drawing/2014/main" id="{59EE73A3-3821-D76E-894D-66665FC62B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310173" y="4028941"/>
            <a:ext cx="1905000" cy="561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8CFD88F-7F84-8AC5-F504-F6EF94B24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8B63-CEEB-40B6-812A-8994CDE1651E}" type="slidenum">
              <a:rPr lang="en-IN" sz="20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</a:t>
            </a:fld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DFB85CFC-530C-7D27-5AB8-CAB7F41BA0E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108"/>
            <a:ext cx="12192000" cy="6860107"/>
          </a:xfrm>
          <a:prstGeom prst="rect">
            <a:avLst/>
          </a:prstGeom>
        </p:spPr>
      </p:pic>
      <p:sp>
        <p:nvSpPr>
          <p:cNvPr id="33" name="Title 32">
            <a:extLst>
              <a:ext uri="{FF2B5EF4-FFF2-40B4-BE49-F238E27FC236}">
                <a16:creationId xmlns:a16="http://schemas.microsoft.com/office/drawing/2014/main" id="{5955B096-B35E-76FF-4F99-1B4302052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u="sng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Roles and Responsibilities</a:t>
            </a:r>
            <a:endParaRPr lang="en-IN" sz="3200" b="1" dirty="0"/>
          </a:p>
        </p:txBody>
      </p:sp>
      <p:sp>
        <p:nvSpPr>
          <p:cNvPr id="6" name="Content Placeholder 33">
            <a:extLst>
              <a:ext uri="{FF2B5EF4-FFF2-40B4-BE49-F238E27FC236}">
                <a16:creationId xmlns:a16="http://schemas.microsoft.com/office/drawing/2014/main" id="{DB0F7D1A-4A89-67E8-D649-5223C11A03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US" sz="14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Key Responsibilities: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Study how CBC blood parameters relate to disease prediction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Build machine learning models to analyze CBC data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Develop an AI-based system for disease prediction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Implement OCR to extract parameters from CBC reports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Create dashboards for visualization of CBC analysis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Identify abnormal blood parameters automatically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Generate health reports based on predictions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Work with web technologies to integrate ML models into the application</a:t>
            </a:r>
            <a:endParaRPr lang="en-US" sz="1400" dirty="0">
              <a:latin typeface="Times New Roman" panose="02020603050405020304" pitchFamily="18" charset="0"/>
              <a:ea typeface="Corben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C0A1377C-0457-0CEB-0A0F-24DDCFA48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8B63-CEEB-40B6-812A-8994CDE1651E}" type="slidenum"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</a:t>
            </a:fld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4286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6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677D7E6-6DA1-2078-914A-0A205B11AE8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108"/>
            <a:ext cx="12192000" cy="6860107"/>
          </a:xfrm>
          <a:prstGeom prst="rect">
            <a:avLst/>
          </a:prstGeom>
        </p:spPr>
      </p:pic>
      <p:sp>
        <p:nvSpPr>
          <p:cNvPr id="33" name="Title 32">
            <a:extLst>
              <a:ext uri="{FF2B5EF4-FFF2-40B4-BE49-F238E27FC236}">
                <a16:creationId xmlns:a16="http://schemas.microsoft.com/office/drawing/2014/main" id="{5955B096-B35E-76FF-4F99-1B4302052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u="sng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Introduction to the Project</a:t>
            </a:r>
            <a:endParaRPr lang="en-IN" sz="3200" b="1" dirty="0"/>
          </a:p>
        </p:txBody>
      </p:sp>
      <p:sp>
        <p:nvSpPr>
          <p:cNvPr id="6" name="Content Placeholder 33">
            <a:extLst>
              <a:ext uri="{FF2B5EF4-FFF2-40B4-BE49-F238E27FC236}">
                <a16:creationId xmlns:a16="http://schemas.microsoft.com/office/drawing/2014/main" id="{D29C3536-15AC-5E48-E1F2-CAFD4808F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Overview: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Blood tests provide critical information about human health. However, analyzing CBC reports manually can be time-consuming.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builds an AI-based healthcare system that automatically analyzes CBC parameters and predicts possible diseases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This Project?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 machine learning based healthcare web application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Predicts diseases using CBC parameters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Extracts CBC values from uploaded reports using OCR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Highlights abnormal blood parameters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Provides graphical analysis of patient history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D438439-8ACE-8B67-BCAE-EDDDC86AC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8B63-CEEB-40B6-812A-8994CDE1651E}" type="slidenum"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</a:t>
            </a:fld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5570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6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D9329A-7BDB-2024-CBC0-3FC52E1D7F3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108"/>
            <a:ext cx="12192000" cy="68601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FD89658-53E4-E58A-90E5-C62557BCDCC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3467" cy="6858000"/>
          </a:xfrm>
          <a:prstGeom prst="rect">
            <a:avLst/>
          </a:prstGeom>
        </p:spPr>
      </p:pic>
      <p:sp>
        <p:nvSpPr>
          <p:cNvPr id="33" name="Title 32">
            <a:extLst>
              <a:ext uri="{FF2B5EF4-FFF2-40B4-BE49-F238E27FC236}">
                <a16:creationId xmlns:a16="http://schemas.microsoft.com/office/drawing/2014/main" id="{5955B096-B35E-76FF-4F99-1B4302052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u="sng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Project Goals</a:t>
            </a:r>
            <a:endParaRPr lang="en-IN" sz="3200" b="1" dirty="0"/>
          </a:p>
        </p:txBody>
      </p:sp>
      <p:sp>
        <p:nvSpPr>
          <p:cNvPr id="34" name="Content Placeholder 33">
            <a:extLst>
              <a:ext uri="{FF2B5EF4-FFF2-40B4-BE49-F238E27FC236}">
                <a16:creationId xmlns:a16="http://schemas.microsoft.com/office/drawing/2014/main" id="{4F11AEAF-25AB-180B-6154-9F182D789F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30755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7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1. Build an Intelligent Recommendation Engine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machine learning models to analyze CBC parameters and predict possible diseases.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2. Implement Sentiment Analysis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machine learning models to analyze CBC parameters and predict possible diseases.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3. Conduct Exploratory Data Analysis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blood parameter trends and correlations with diseases</a:t>
            </a:r>
            <a:endParaRPr lang="en-US" sz="1600" dirty="0">
              <a:latin typeface="Times New Roman" panose="02020603050405020304" pitchFamily="18" charset="0"/>
              <a:ea typeface="Corben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1600" b="1" dirty="0">
              <a:latin typeface="Times New Roman" panose="02020603050405020304" pitchFamily="18" charset="0"/>
              <a:ea typeface="Corben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1600" b="1" dirty="0">
              <a:latin typeface="Times New Roman" panose="02020603050405020304" pitchFamily="18" charset="0"/>
              <a:ea typeface="Corben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1600" dirty="0">
              <a:latin typeface="Times New Roman" panose="02020603050405020304" pitchFamily="18" charset="0"/>
              <a:ea typeface="Corben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1600" dirty="0">
              <a:latin typeface="Times New Roman" panose="02020603050405020304" pitchFamily="18" charset="0"/>
              <a:ea typeface="Corben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Content Placeholder 33">
            <a:extLst>
              <a:ext uri="{FF2B5EF4-FFF2-40B4-BE49-F238E27FC236}">
                <a16:creationId xmlns:a16="http://schemas.microsoft.com/office/drawing/2014/main" id="{811AC81C-42CC-9B93-8240-84682E15B2E1}"/>
              </a:ext>
            </a:extLst>
          </p:cNvPr>
          <p:cNvSpPr txBox="1">
            <a:spLocks/>
          </p:cNvSpPr>
          <p:nvPr/>
        </p:nvSpPr>
        <p:spPr>
          <a:xfrm>
            <a:off x="6323045" y="1825560"/>
            <a:ext cx="503075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17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4. Create an Analytics Dashboard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 patient health records and CBC trends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5. Ensure Deployment Ready System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web application for real-time analysis.</a:t>
            </a:r>
            <a:endParaRPr lang="en-US" sz="1600" b="1" dirty="0">
              <a:latin typeface="Times New Roman" panose="02020603050405020304" pitchFamily="18" charset="0"/>
              <a:ea typeface="Corben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Design a responsive and clean interface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sz="1400" b="1" dirty="0">
              <a:latin typeface="Times New Roman" panose="02020603050405020304" pitchFamily="18" charset="0"/>
              <a:ea typeface="Corben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sz="1600" b="1" dirty="0">
              <a:latin typeface="Times New Roman" panose="02020603050405020304" pitchFamily="18" charset="0"/>
              <a:ea typeface="Corben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sz="1600" dirty="0">
              <a:latin typeface="Times New Roman" panose="02020603050405020304" pitchFamily="18" charset="0"/>
              <a:ea typeface="Corben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sz="1600" dirty="0">
              <a:latin typeface="Times New Roman" panose="02020603050405020304" pitchFamily="18" charset="0"/>
              <a:ea typeface="Corben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CBADA80-3167-70FE-88F1-BED8770AF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8B63-CEEB-40B6-812A-8994CDE1651E}" type="slidenum"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5</a:t>
            </a:fld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9043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 uiExpand="1" build="p"/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3AC173B-C1EF-A57C-F641-872184C122D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108"/>
            <a:ext cx="12192000" cy="6860107"/>
          </a:xfrm>
          <a:prstGeom prst="rect">
            <a:avLst/>
          </a:prstGeom>
        </p:spPr>
      </p:pic>
      <p:sp>
        <p:nvSpPr>
          <p:cNvPr id="33" name="Title 32">
            <a:extLst>
              <a:ext uri="{FF2B5EF4-FFF2-40B4-BE49-F238E27FC236}">
                <a16:creationId xmlns:a16="http://schemas.microsoft.com/office/drawing/2014/main" id="{5955B096-B35E-76FF-4F99-1B4302052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u="sng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Objectives of the Project</a:t>
            </a:r>
          </a:p>
        </p:txBody>
      </p:sp>
      <p:sp>
        <p:nvSpPr>
          <p:cNvPr id="34" name="Content Placeholder 33">
            <a:extLst>
              <a:ext uri="{FF2B5EF4-FFF2-40B4-BE49-F238E27FC236}">
                <a16:creationId xmlns:a16="http://schemas.microsoft.com/office/drawing/2014/main" id="{4F11AEAF-25AB-180B-6154-9F182D789F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08241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7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1. Technical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machine learning models for disease prediction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Implement OCR based CBC parameter extraction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Build a web application using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Integrate database for storing patient history</a:t>
            </a:r>
            <a:endParaRPr lang="en-US" sz="1400" b="1" dirty="0">
              <a:latin typeface="Times New Roman" panose="02020603050405020304" pitchFamily="18" charset="0"/>
              <a:ea typeface="Corben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2. Business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Develop machine learning models for disease prediction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Implement OCR based CBC parameter extraction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Build a web application using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Integrate database for storing patient history</a:t>
            </a:r>
            <a:endParaRPr lang="en-US" sz="1400" b="1" dirty="0">
              <a:latin typeface="Times New Roman" panose="02020603050405020304" pitchFamily="18" charset="0"/>
              <a:ea typeface="Corben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5D32DE-65AB-FC66-2339-8FF0F7B946A0}"/>
              </a:ext>
            </a:extLst>
          </p:cNvPr>
          <p:cNvSpPr txBox="1"/>
          <p:nvPr/>
        </p:nvSpPr>
        <p:spPr>
          <a:xfrm>
            <a:off x="5875953" y="2936557"/>
            <a:ext cx="6097554" cy="1415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Learning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•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early disease detection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Reduce manual analysis of blood reports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Provide quick health insights for users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6C8E210-59D0-3FF2-7530-CF29F8F78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8B63-CEEB-40B6-812A-8994CDE1651E}" type="slidenum"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6</a:t>
            </a:fld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640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 uiExpand="1" build="p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17854A-7F73-E278-8C57-291C2596B90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108"/>
            <a:ext cx="12192000" cy="6860107"/>
          </a:xfrm>
          <a:prstGeom prst="rect">
            <a:avLst/>
          </a:prstGeom>
        </p:spPr>
      </p:pic>
      <p:sp>
        <p:nvSpPr>
          <p:cNvPr id="33" name="Title 32">
            <a:extLst>
              <a:ext uri="{FF2B5EF4-FFF2-40B4-BE49-F238E27FC236}">
                <a16:creationId xmlns:a16="http://schemas.microsoft.com/office/drawing/2014/main" id="{5955B096-B35E-76FF-4F99-1B4302052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u="sng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Key Functionalities</a:t>
            </a:r>
          </a:p>
        </p:txBody>
      </p:sp>
      <p:sp>
        <p:nvSpPr>
          <p:cNvPr id="34" name="Content Placeholder 33">
            <a:extLst>
              <a:ext uri="{FF2B5EF4-FFF2-40B4-BE49-F238E27FC236}">
                <a16:creationId xmlns:a16="http://schemas.microsoft.com/office/drawing/2014/main" id="{4F11AEAF-25AB-180B-6154-9F182D789F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9381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User registration and login system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Manual CBC parameter input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Upload CBC report (PDF/Image)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Automatic OCR extraction of CBC values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AI-based disease prediction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Highlight abnormal blood parameters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Patient history tracking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Graphical visualization of CBC trends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Downloadable PDF health report</a:t>
            </a:r>
            <a:endParaRPr lang="en-US" sz="1500" dirty="0">
              <a:latin typeface="Times New Roman" panose="02020603050405020304" pitchFamily="18" charset="0"/>
              <a:ea typeface="Corben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22994-1BE4-CB86-D294-64033DAE5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8B63-CEEB-40B6-812A-8994CDE1651E}" type="slidenum"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7</a:t>
            </a:fld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2514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67BE19C-A8F8-685A-8191-557B144CF93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108"/>
            <a:ext cx="12192000" cy="6860107"/>
          </a:xfrm>
          <a:prstGeom prst="rect">
            <a:avLst/>
          </a:prstGeom>
        </p:spPr>
      </p:pic>
      <p:sp>
        <p:nvSpPr>
          <p:cNvPr id="33" name="Title 32">
            <a:extLst>
              <a:ext uri="{FF2B5EF4-FFF2-40B4-BE49-F238E27FC236}">
                <a16:creationId xmlns:a16="http://schemas.microsoft.com/office/drawing/2014/main" id="{5955B096-B35E-76FF-4F99-1B4302052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u="sng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Methodology / Tools &amp; Technology Used</a:t>
            </a:r>
          </a:p>
        </p:txBody>
      </p:sp>
      <p:sp>
        <p:nvSpPr>
          <p:cNvPr id="34" name="Content Placeholder 33">
            <a:extLst>
              <a:ext uri="{FF2B5EF4-FFF2-40B4-BE49-F238E27FC236}">
                <a16:creationId xmlns:a16="http://schemas.microsoft.com/office/drawing/2014/main" id="{4F11AEAF-25AB-180B-6154-9F182D789F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8882"/>
            <a:ext cx="4536233" cy="5728995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7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1. Backend Development: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– Core programming language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Web framework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Machine Learning &amp; NLP: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 – Disease prediction models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TensorFlow – Neural network models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Data Processing: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 – Disease prediction models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TensorFlow – Neural network models</a:t>
            </a: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ontent Placeholder 33">
            <a:extLst>
              <a:ext uri="{FF2B5EF4-FFF2-40B4-BE49-F238E27FC236}">
                <a16:creationId xmlns:a16="http://schemas.microsoft.com/office/drawing/2014/main" id="{2476B0A1-BC47-940E-8DCB-72B517EE9B62}"/>
              </a:ext>
            </a:extLst>
          </p:cNvPr>
          <p:cNvSpPr txBox="1">
            <a:spLocks/>
          </p:cNvSpPr>
          <p:nvPr/>
        </p:nvSpPr>
        <p:spPr>
          <a:xfrm>
            <a:off x="6001140" y="2146041"/>
            <a:ext cx="4536233" cy="40401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17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4. OCR technology: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Tesseract OCR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PyTesseract</a:t>
            </a:r>
            <a:endParaRPr lang="en-US" sz="1600" b="1" dirty="0">
              <a:latin typeface="Times New Roman" panose="02020603050405020304" pitchFamily="18" charset="0"/>
              <a:ea typeface="Corben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Database: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SQLite – Patient data storage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Data </a:t>
            </a:r>
            <a:r>
              <a:rPr lang="en-IN" sz="1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Visualiztion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Seaborn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A13958-1BA4-990A-9958-72F6565F3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8B63-CEEB-40B6-812A-8994CDE1651E}" type="slidenum"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</a:t>
            </a:fld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9422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 uiExpand="1" build="p"/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EEA7B2-93E6-0DC0-9D6C-5D0B818BC34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108"/>
            <a:ext cx="12192000" cy="6860107"/>
          </a:xfrm>
          <a:prstGeom prst="rect">
            <a:avLst/>
          </a:prstGeom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B9B6B15C-E217-0415-28F5-B861B91C6FEC}"/>
              </a:ext>
            </a:extLst>
          </p:cNvPr>
          <p:cNvSpPr/>
          <p:nvPr/>
        </p:nvSpPr>
        <p:spPr>
          <a:xfrm>
            <a:off x="1072455" y="1178917"/>
            <a:ext cx="3365301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16" dirty="0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endParaRPr lang="en-US" sz="141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7A55BDBA-EB6F-0AE8-BC9F-8DA8637B1B2E}"/>
              </a:ext>
            </a:extLst>
          </p:cNvPr>
          <p:cNvSpPr/>
          <p:nvPr/>
        </p:nvSpPr>
        <p:spPr>
          <a:xfrm>
            <a:off x="6086375" y="1426666"/>
            <a:ext cx="19050" cy="4900116"/>
          </a:xfrm>
          <a:prstGeom prst="roundRect">
            <a:avLst>
              <a:gd name="adj" fmla="val 321030"/>
            </a:avLst>
          </a:prstGeom>
          <a:solidFill>
            <a:srgbClr val="B8BFDF"/>
          </a:solidFill>
          <a:ln/>
        </p:spPr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D89920FC-3867-5627-4A2A-935EF00927E4}"/>
              </a:ext>
            </a:extLst>
          </p:cNvPr>
          <p:cNvSpPr/>
          <p:nvPr/>
        </p:nvSpPr>
        <p:spPr>
          <a:xfrm>
            <a:off x="5514380" y="1580951"/>
            <a:ext cx="436760" cy="19050"/>
          </a:xfrm>
          <a:prstGeom prst="roundRect">
            <a:avLst>
              <a:gd name="adj" fmla="val 321030"/>
            </a:avLst>
          </a:prstGeom>
          <a:solidFill>
            <a:srgbClr val="B8BFDF"/>
          </a:solidFill>
          <a:ln/>
        </p:spPr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696BD378-DB5F-7A4B-307D-0890FDB2F7A9}"/>
              </a:ext>
            </a:extLst>
          </p:cNvPr>
          <p:cNvSpPr/>
          <p:nvPr/>
        </p:nvSpPr>
        <p:spPr>
          <a:xfrm>
            <a:off x="5932090" y="1426666"/>
            <a:ext cx="327620" cy="327620"/>
          </a:xfrm>
          <a:prstGeom prst="roundRect">
            <a:avLst>
              <a:gd name="adj" fmla="val 18667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DB7D0F98-59DC-8FFF-DE26-B00099DCCA75}"/>
              </a:ext>
            </a:extLst>
          </p:cNvPr>
          <p:cNvSpPr/>
          <p:nvPr/>
        </p:nvSpPr>
        <p:spPr>
          <a:xfrm>
            <a:off x="5986710" y="1454000"/>
            <a:ext cx="218380" cy="272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708" dirty="0">
                <a:solidFill>
                  <a:srgbClr val="404155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1</a:t>
            </a:r>
            <a:endParaRPr lang="en-US" sz="170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7DC63A06-5DF6-2654-9EBF-3E296847B7A5}"/>
              </a:ext>
            </a:extLst>
          </p:cNvPr>
          <p:cNvSpPr/>
          <p:nvPr/>
        </p:nvSpPr>
        <p:spPr>
          <a:xfrm>
            <a:off x="3547864" y="1476672"/>
            <a:ext cx="1820069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416" b="1" dirty="0">
                <a:solidFill>
                  <a:srgbClr val="404155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Week 1</a:t>
            </a:r>
            <a:endParaRPr lang="en-US" sz="1416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96D4BADD-EEA4-0F13-52D8-9CD2A94CB97C}"/>
              </a:ext>
            </a:extLst>
          </p:cNvPr>
          <p:cNvSpPr/>
          <p:nvPr/>
        </p:nvSpPr>
        <p:spPr>
          <a:xfrm>
            <a:off x="1354533" y="1726273"/>
            <a:ext cx="4295477" cy="618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9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en-US" sz="1400" dirty="0"/>
              <a:t> identification and project planning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B26D493F-9307-B48A-CE17-755A0FEAB620}"/>
              </a:ext>
            </a:extLst>
          </p:cNvPr>
          <p:cNvSpPr/>
          <p:nvPr/>
        </p:nvSpPr>
        <p:spPr>
          <a:xfrm>
            <a:off x="6240660" y="2387699"/>
            <a:ext cx="436760" cy="19050"/>
          </a:xfrm>
          <a:prstGeom prst="roundRect">
            <a:avLst>
              <a:gd name="adj" fmla="val 321030"/>
            </a:avLst>
          </a:prstGeom>
          <a:solidFill>
            <a:srgbClr val="B8BFDF"/>
          </a:solidFill>
          <a:ln/>
        </p:spPr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EC0D91C6-14B4-4FFD-F9B1-C6D71E1C77AD}"/>
              </a:ext>
            </a:extLst>
          </p:cNvPr>
          <p:cNvSpPr/>
          <p:nvPr/>
        </p:nvSpPr>
        <p:spPr>
          <a:xfrm>
            <a:off x="5932090" y="2233414"/>
            <a:ext cx="327620" cy="327620"/>
          </a:xfrm>
          <a:prstGeom prst="roundRect">
            <a:avLst>
              <a:gd name="adj" fmla="val 18667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712F5BC2-7BB0-61AB-147D-77A82729AD4A}"/>
              </a:ext>
            </a:extLst>
          </p:cNvPr>
          <p:cNvSpPr/>
          <p:nvPr/>
        </p:nvSpPr>
        <p:spPr>
          <a:xfrm>
            <a:off x="5986710" y="2260749"/>
            <a:ext cx="218380" cy="272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708" dirty="0">
                <a:solidFill>
                  <a:srgbClr val="404155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2</a:t>
            </a:r>
            <a:endParaRPr lang="en-US" sz="170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17AD1852-E4D5-038B-B1B7-E4578887DA5E}"/>
              </a:ext>
            </a:extLst>
          </p:cNvPr>
          <p:cNvSpPr/>
          <p:nvPr/>
        </p:nvSpPr>
        <p:spPr>
          <a:xfrm>
            <a:off x="6823869" y="2283420"/>
            <a:ext cx="1820069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16" b="1" dirty="0">
                <a:solidFill>
                  <a:srgbClr val="404155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Week 2</a:t>
            </a:r>
            <a:endParaRPr lang="en-US" sz="1416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A3E06DB9-DE06-413F-7110-2EADFA468641}"/>
              </a:ext>
            </a:extLst>
          </p:cNvPr>
          <p:cNvSpPr/>
          <p:nvPr/>
        </p:nvSpPr>
        <p:spPr>
          <a:xfrm>
            <a:off x="6823869" y="2578100"/>
            <a:ext cx="4295576" cy="618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identification and project planning</a:t>
            </a:r>
            <a:endParaRPr lang="en-US" sz="1400" dirty="0">
              <a:solidFill>
                <a:srgbClr val="404155"/>
              </a:solidFill>
              <a:latin typeface="Times New Roman" panose="02020603050405020304" pitchFamily="18" charset="0"/>
              <a:ea typeface="Nobile" pitchFamily="34" charset="-122"/>
              <a:cs typeface="Times New Roman" panose="02020603050405020304" pitchFamily="18" charset="0"/>
            </a:endParaRPr>
          </a:p>
        </p:txBody>
      </p:sp>
      <p:sp>
        <p:nvSpPr>
          <p:cNvPr id="19" name="Shape 13">
            <a:extLst>
              <a:ext uri="{FF2B5EF4-FFF2-40B4-BE49-F238E27FC236}">
                <a16:creationId xmlns:a16="http://schemas.microsoft.com/office/drawing/2014/main" id="{22CC46E6-9E44-540A-BBE8-364E1990649E}"/>
              </a:ext>
            </a:extLst>
          </p:cNvPr>
          <p:cNvSpPr/>
          <p:nvPr/>
        </p:nvSpPr>
        <p:spPr>
          <a:xfrm>
            <a:off x="5514380" y="3107233"/>
            <a:ext cx="436760" cy="19050"/>
          </a:xfrm>
          <a:prstGeom prst="roundRect">
            <a:avLst>
              <a:gd name="adj" fmla="val 321030"/>
            </a:avLst>
          </a:prstGeom>
          <a:solidFill>
            <a:srgbClr val="B8BFDF"/>
          </a:solidFill>
          <a:ln/>
        </p:spPr>
      </p:sp>
      <p:sp>
        <p:nvSpPr>
          <p:cNvPr id="20" name="Shape 14">
            <a:extLst>
              <a:ext uri="{FF2B5EF4-FFF2-40B4-BE49-F238E27FC236}">
                <a16:creationId xmlns:a16="http://schemas.microsoft.com/office/drawing/2014/main" id="{DEE9A767-7A51-5E59-885B-BDE6E1092A4D}"/>
              </a:ext>
            </a:extLst>
          </p:cNvPr>
          <p:cNvSpPr/>
          <p:nvPr/>
        </p:nvSpPr>
        <p:spPr>
          <a:xfrm>
            <a:off x="5932090" y="2952948"/>
            <a:ext cx="327620" cy="327620"/>
          </a:xfrm>
          <a:prstGeom prst="roundRect">
            <a:avLst>
              <a:gd name="adj" fmla="val 18667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088E1DB0-17CE-E53B-1C68-9184C307360B}"/>
              </a:ext>
            </a:extLst>
          </p:cNvPr>
          <p:cNvSpPr/>
          <p:nvPr/>
        </p:nvSpPr>
        <p:spPr>
          <a:xfrm>
            <a:off x="5986710" y="2980283"/>
            <a:ext cx="218380" cy="272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708" dirty="0">
                <a:solidFill>
                  <a:srgbClr val="404155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3</a:t>
            </a:r>
            <a:endParaRPr lang="en-US" sz="170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3C4EEDCE-BA33-D356-4967-BB14D2A7A3E5}"/>
              </a:ext>
            </a:extLst>
          </p:cNvPr>
          <p:cNvSpPr/>
          <p:nvPr/>
        </p:nvSpPr>
        <p:spPr>
          <a:xfrm>
            <a:off x="3547864" y="3002955"/>
            <a:ext cx="1820069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416" b="1" dirty="0">
                <a:solidFill>
                  <a:srgbClr val="404155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Week 3</a:t>
            </a:r>
            <a:endParaRPr lang="en-US" sz="1416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303C694B-A92E-7AF6-1477-1FCF1272C130}"/>
              </a:ext>
            </a:extLst>
          </p:cNvPr>
          <p:cNvSpPr/>
          <p:nvPr/>
        </p:nvSpPr>
        <p:spPr>
          <a:xfrm>
            <a:off x="1072455" y="3297634"/>
            <a:ext cx="4295477" cy="618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900"/>
              </a:lnSpc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collection and research</a:t>
            </a:r>
            <a:endParaRPr lang="en-US" sz="1400" dirty="0">
              <a:solidFill>
                <a:srgbClr val="404155"/>
              </a:solidFill>
              <a:latin typeface="Times New Roman" panose="02020603050405020304" pitchFamily="18" charset="0"/>
              <a:ea typeface="Nobile" pitchFamily="34" charset="-122"/>
              <a:cs typeface="Times New Roman" panose="02020603050405020304" pitchFamily="18" charset="0"/>
            </a:endParaRPr>
          </a:p>
        </p:txBody>
      </p:sp>
      <p:sp>
        <p:nvSpPr>
          <p:cNvPr id="24" name="Shape 18">
            <a:extLst>
              <a:ext uri="{FF2B5EF4-FFF2-40B4-BE49-F238E27FC236}">
                <a16:creationId xmlns:a16="http://schemas.microsoft.com/office/drawing/2014/main" id="{BCCA1BCE-56C3-5EB2-88B3-51154E2329A3}"/>
              </a:ext>
            </a:extLst>
          </p:cNvPr>
          <p:cNvSpPr/>
          <p:nvPr/>
        </p:nvSpPr>
        <p:spPr>
          <a:xfrm>
            <a:off x="6240660" y="3826867"/>
            <a:ext cx="436760" cy="19050"/>
          </a:xfrm>
          <a:prstGeom prst="roundRect">
            <a:avLst>
              <a:gd name="adj" fmla="val 321030"/>
            </a:avLst>
          </a:prstGeom>
          <a:solidFill>
            <a:srgbClr val="B8BFDF"/>
          </a:solidFill>
          <a:ln/>
        </p:spPr>
      </p:sp>
      <p:sp>
        <p:nvSpPr>
          <p:cNvPr id="25" name="Shape 19">
            <a:extLst>
              <a:ext uri="{FF2B5EF4-FFF2-40B4-BE49-F238E27FC236}">
                <a16:creationId xmlns:a16="http://schemas.microsoft.com/office/drawing/2014/main" id="{3315E7C2-1C31-6D73-9AA6-6E8E5D3B67D0}"/>
              </a:ext>
            </a:extLst>
          </p:cNvPr>
          <p:cNvSpPr/>
          <p:nvPr/>
        </p:nvSpPr>
        <p:spPr>
          <a:xfrm>
            <a:off x="5932090" y="3672581"/>
            <a:ext cx="327620" cy="327620"/>
          </a:xfrm>
          <a:prstGeom prst="roundRect">
            <a:avLst>
              <a:gd name="adj" fmla="val 18667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B9EB62B9-D814-4AB8-A37D-40E7067DAAE0}"/>
              </a:ext>
            </a:extLst>
          </p:cNvPr>
          <p:cNvSpPr/>
          <p:nvPr/>
        </p:nvSpPr>
        <p:spPr>
          <a:xfrm>
            <a:off x="5986710" y="3699916"/>
            <a:ext cx="218380" cy="272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708" dirty="0">
                <a:solidFill>
                  <a:srgbClr val="404155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4</a:t>
            </a:r>
            <a:endParaRPr lang="en-US" sz="170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6E721BCD-9C7F-44B6-DECA-71F3C2BE586F}"/>
              </a:ext>
            </a:extLst>
          </p:cNvPr>
          <p:cNvSpPr/>
          <p:nvPr/>
        </p:nvSpPr>
        <p:spPr>
          <a:xfrm>
            <a:off x="6823869" y="3722588"/>
            <a:ext cx="1820069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16" b="1" dirty="0">
                <a:solidFill>
                  <a:srgbClr val="404155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Week 4</a:t>
            </a:r>
            <a:endParaRPr lang="en-US" sz="1416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2">
            <a:extLst>
              <a:ext uri="{FF2B5EF4-FFF2-40B4-BE49-F238E27FC236}">
                <a16:creationId xmlns:a16="http://schemas.microsoft.com/office/drawing/2014/main" id="{7154DB8D-1199-5B73-E682-B45033868814}"/>
              </a:ext>
            </a:extLst>
          </p:cNvPr>
          <p:cNvSpPr/>
          <p:nvPr/>
        </p:nvSpPr>
        <p:spPr>
          <a:xfrm>
            <a:off x="6823869" y="4017268"/>
            <a:ext cx="4295576" cy="618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00"/>
              </a:lnSpc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and cleaning</a:t>
            </a:r>
            <a:endParaRPr lang="en-US" sz="1400" dirty="0">
              <a:solidFill>
                <a:srgbClr val="404155"/>
              </a:solidFill>
              <a:latin typeface="Times New Roman" panose="02020603050405020304" pitchFamily="18" charset="0"/>
              <a:ea typeface="Nobile" pitchFamily="34" charset="-122"/>
              <a:cs typeface="Times New Roman" panose="02020603050405020304" pitchFamily="18" charset="0"/>
            </a:endParaRPr>
          </a:p>
        </p:txBody>
      </p:sp>
      <p:sp>
        <p:nvSpPr>
          <p:cNvPr id="29" name="Shape 23">
            <a:extLst>
              <a:ext uri="{FF2B5EF4-FFF2-40B4-BE49-F238E27FC236}">
                <a16:creationId xmlns:a16="http://schemas.microsoft.com/office/drawing/2014/main" id="{CB2C699E-B582-C9AD-14A0-F77875B2D76F}"/>
              </a:ext>
            </a:extLst>
          </p:cNvPr>
          <p:cNvSpPr/>
          <p:nvPr/>
        </p:nvSpPr>
        <p:spPr>
          <a:xfrm>
            <a:off x="5514380" y="4546500"/>
            <a:ext cx="436760" cy="19050"/>
          </a:xfrm>
          <a:prstGeom prst="roundRect">
            <a:avLst>
              <a:gd name="adj" fmla="val 321030"/>
            </a:avLst>
          </a:prstGeom>
          <a:solidFill>
            <a:srgbClr val="B8BFDF"/>
          </a:solidFill>
          <a:ln/>
        </p:spPr>
      </p:sp>
      <p:sp>
        <p:nvSpPr>
          <p:cNvPr id="30" name="Shape 24">
            <a:extLst>
              <a:ext uri="{FF2B5EF4-FFF2-40B4-BE49-F238E27FC236}">
                <a16:creationId xmlns:a16="http://schemas.microsoft.com/office/drawing/2014/main" id="{930AC025-8BD4-87A7-7107-DF8EB8CE1B59}"/>
              </a:ext>
            </a:extLst>
          </p:cNvPr>
          <p:cNvSpPr/>
          <p:nvPr/>
        </p:nvSpPr>
        <p:spPr>
          <a:xfrm>
            <a:off x="5932090" y="4392215"/>
            <a:ext cx="327620" cy="327620"/>
          </a:xfrm>
          <a:prstGeom prst="roundRect">
            <a:avLst>
              <a:gd name="adj" fmla="val 18667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32" name="Text 25">
            <a:extLst>
              <a:ext uri="{FF2B5EF4-FFF2-40B4-BE49-F238E27FC236}">
                <a16:creationId xmlns:a16="http://schemas.microsoft.com/office/drawing/2014/main" id="{578DE062-6F9B-ACAF-98ED-E772B4D9C1BA}"/>
              </a:ext>
            </a:extLst>
          </p:cNvPr>
          <p:cNvSpPr/>
          <p:nvPr/>
        </p:nvSpPr>
        <p:spPr>
          <a:xfrm>
            <a:off x="5986710" y="4419550"/>
            <a:ext cx="218380" cy="272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708" dirty="0">
                <a:solidFill>
                  <a:srgbClr val="404155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5</a:t>
            </a:r>
            <a:endParaRPr lang="en-US" sz="170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26">
            <a:extLst>
              <a:ext uri="{FF2B5EF4-FFF2-40B4-BE49-F238E27FC236}">
                <a16:creationId xmlns:a16="http://schemas.microsoft.com/office/drawing/2014/main" id="{4E64B81F-9BF8-6ED7-8DCB-546F51473873}"/>
              </a:ext>
            </a:extLst>
          </p:cNvPr>
          <p:cNvSpPr/>
          <p:nvPr/>
        </p:nvSpPr>
        <p:spPr>
          <a:xfrm>
            <a:off x="3547864" y="4442221"/>
            <a:ext cx="1820069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416" b="1" dirty="0">
                <a:solidFill>
                  <a:srgbClr val="404155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Week 5</a:t>
            </a:r>
            <a:endParaRPr lang="en-US" sz="1416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27">
            <a:extLst>
              <a:ext uri="{FF2B5EF4-FFF2-40B4-BE49-F238E27FC236}">
                <a16:creationId xmlns:a16="http://schemas.microsoft.com/office/drawing/2014/main" id="{C19A7107-22A1-5DB2-8AB9-95008214A0AA}"/>
              </a:ext>
            </a:extLst>
          </p:cNvPr>
          <p:cNvSpPr/>
          <p:nvPr/>
        </p:nvSpPr>
        <p:spPr>
          <a:xfrm>
            <a:off x="1072455" y="4736901"/>
            <a:ext cx="4295477" cy="618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9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of CBC parameters</a:t>
            </a:r>
            <a:endParaRPr lang="en-US" sz="1400" dirty="0">
              <a:solidFill>
                <a:srgbClr val="404155"/>
              </a:solidFill>
              <a:latin typeface="Times New Roman" panose="02020603050405020304" pitchFamily="18" charset="0"/>
              <a:ea typeface="Nobile" pitchFamily="34" charset="-122"/>
              <a:cs typeface="Times New Roman" panose="02020603050405020304" pitchFamily="18" charset="0"/>
            </a:endParaRPr>
          </a:p>
        </p:txBody>
      </p:sp>
      <p:sp>
        <p:nvSpPr>
          <p:cNvPr id="37" name="Shape 28">
            <a:extLst>
              <a:ext uri="{FF2B5EF4-FFF2-40B4-BE49-F238E27FC236}">
                <a16:creationId xmlns:a16="http://schemas.microsoft.com/office/drawing/2014/main" id="{C8546525-46F0-CE5E-4634-F98C16D79AA6}"/>
              </a:ext>
            </a:extLst>
          </p:cNvPr>
          <p:cNvSpPr/>
          <p:nvPr/>
        </p:nvSpPr>
        <p:spPr>
          <a:xfrm>
            <a:off x="6240660" y="5266134"/>
            <a:ext cx="436760" cy="19050"/>
          </a:xfrm>
          <a:prstGeom prst="roundRect">
            <a:avLst>
              <a:gd name="adj" fmla="val 321030"/>
            </a:avLst>
          </a:prstGeom>
          <a:solidFill>
            <a:srgbClr val="B8BFDF"/>
          </a:solidFill>
          <a:ln/>
        </p:spPr>
      </p:sp>
      <p:sp>
        <p:nvSpPr>
          <p:cNvPr id="38" name="Shape 29">
            <a:extLst>
              <a:ext uri="{FF2B5EF4-FFF2-40B4-BE49-F238E27FC236}">
                <a16:creationId xmlns:a16="http://schemas.microsoft.com/office/drawing/2014/main" id="{EB6B140F-7267-6EB8-EC22-134BB5FCBB6D}"/>
              </a:ext>
            </a:extLst>
          </p:cNvPr>
          <p:cNvSpPr/>
          <p:nvPr/>
        </p:nvSpPr>
        <p:spPr>
          <a:xfrm>
            <a:off x="5932090" y="5111849"/>
            <a:ext cx="327620" cy="327620"/>
          </a:xfrm>
          <a:prstGeom prst="roundRect">
            <a:avLst>
              <a:gd name="adj" fmla="val 18667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39" name="Text 30">
            <a:extLst>
              <a:ext uri="{FF2B5EF4-FFF2-40B4-BE49-F238E27FC236}">
                <a16:creationId xmlns:a16="http://schemas.microsoft.com/office/drawing/2014/main" id="{17749445-8FF8-5688-DFE9-0EE498128CFB}"/>
              </a:ext>
            </a:extLst>
          </p:cNvPr>
          <p:cNvSpPr/>
          <p:nvPr/>
        </p:nvSpPr>
        <p:spPr>
          <a:xfrm>
            <a:off x="5986710" y="5139184"/>
            <a:ext cx="218380" cy="272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708" dirty="0">
                <a:solidFill>
                  <a:srgbClr val="404155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6</a:t>
            </a:r>
            <a:endParaRPr lang="en-US" sz="170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1">
            <a:extLst>
              <a:ext uri="{FF2B5EF4-FFF2-40B4-BE49-F238E27FC236}">
                <a16:creationId xmlns:a16="http://schemas.microsoft.com/office/drawing/2014/main" id="{34FA3EE2-7480-A499-8C1A-A83F264ACE06}"/>
              </a:ext>
            </a:extLst>
          </p:cNvPr>
          <p:cNvSpPr/>
          <p:nvPr/>
        </p:nvSpPr>
        <p:spPr>
          <a:xfrm>
            <a:off x="6823869" y="5161855"/>
            <a:ext cx="1820069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16" b="1" dirty="0">
                <a:solidFill>
                  <a:srgbClr val="404155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Week 6</a:t>
            </a:r>
            <a:endParaRPr lang="en-US" sz="1416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2">
            <a:extLst>
              <a:ext uri="{FF2B5EF4-FFF2-40B4-BE49-F238E27FC236}">
                <a16:creationId xmlns:a16="http://schemas.microsoft.com/office/drawing/2014/main" id="{D6864861-87EB-60FA-F017-BDD89F7F38C6}"/>
              </a:ext>
            </a:extLst>
          </p:cNvPr>
          <p:cNvSpPr/>
          <p:nvPr/>
        </p:nvSpPr>
        <p:spPr>
          <a:xfrm>
            <a:off x="6823869" y="5456535"/>
            <a:ext cx="4295576" cy="618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00"/>
              </a:lnSpc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 and engineering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itle 32">
            <a:extLst>
              <a:ext uri="{FF2B5EF4-FFF2-40B4-BE49-F238E27FC236}">
                <a16:creationId xmlns:a16="http://schemas.microsoft.com/office/drawing/2014/main" id="{1EDF6669-26D1-DD33-22CF-704498B5A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625" y="46285"/>
            <a:ext cx="10515600" cy="1325563"/>
          </a:xfrm>
        </p:spPr>
        <p:txBody>
          <a:bodyPr>
            <a:normAutofit/>
          </a:bodyPr>
          <a:lstStyle/>
          <a:p>
            <a:pPr marL="0" indent="0" algn="ctr">
              <a:lnSpc>
                <a:spcPts val="4250"/>
              </a:lnSpc>
              <a:buNone/>
            </a:pPr>
            <a:r>
              <a:rPr lang="en-US" sz="3200" b="1" u="sng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Phase 1: Foundation Building</a:t>
            </a:r>
            <a:endParaRPr lang="en-US" sz="3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907203-6EA2-5D8C-C3E7-62333766A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8B63-CEEB-40B6-812A-8994CDE1651E}" type="slidenum"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</a:t>
            </a:fld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7079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  <p:bldP spid="12" grpId="0" animBg="1"/>
      <p:bldP spid="13" grpId="0" animBg="1"/>
      <p:bldP spid="16" grpId="0" animBg="1"/>
      <p:bldP spid="17" grpId="0" animBg="1"/>
      <p:bldP spid="18" grpId="0" animBg="1"/>
      <p:bldP spid="21" grpId="0" animBg="1"/>
      <p:bldP spid="22" grpId="0" animBg="1"/>
      <p:bldP spid="23" grpId="0" animBg="1"/>
      <p:bldP spid="26" grpId="0" animBg="1"/>
      <p:bldP spid="27" grpId="0" animBg="1"/>
      <p:bldP spid="28" grpId="0" animBg="1"/>
      <p:bldP spid="32" grpId="0" animBg="1"/>
      <p:bldP spid="35" grpId="0" animBg="1"/>
      <p:bldP spid="36" grpId="0" animBg="1"/>
      <p:bldP spid="39" grpId="0" animBg="1"/>
      <p:bldP spid="40" grpId="0" animBg="1"/>
      <p:bldP spid="41" grpId="0" animBg="1"/>
      <p:bldP spid="4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422F09-817B-313E-5234-6CA771548BD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108"/>
            <a:ext cx="12192000" cy="6860107"/>
          </a:xfrm>
          <a:prstGeom prst="rect">
            <a:avLst/>
          </a:prstGeom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3D61A212-3D5F-12A3-C56A-CC93CC48223C}"/>
              </a:ext>
            </a:extLst>
          </p:cNvPr>
          <p:cNvSpPr/>
          <p:nvPr/>
        </p:nvSpPr>
        <p:spPr>
          <a:xfrm>
            <a:off x="1072455" y="1031081"/>
            <a:ext cx="1820069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16" dirty="0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endParaRPr lang="en-US" sz="141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A731E106-91F1-1564-87D2-8F73572F03EF}"/>
              </a:ext>
            </a:extLst>
          </p:cNvPr>
          <p:cNvSpPr/>
          <p:nvPr/>
        </p:nvSpPr>
        <p:spPr>
          <a:xfrm>
            <a:off x="6086375" y="1426666"/>
            <a:ext cx="19050" cy="4900116"/>
          </a:xfrm>
          <a:prstGeom prst="roundRect">
            <a:avLst>
              <a:gd name="adj" fmla="val 321030"/>
            </a:avLst>
          </a:prstGeom>
          <a:solidFill>
            <a:srgbClr val="B8BFDF"/>
          </a:solidFill>
          <a:ln/>
        </p:spPr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111980E5-7B6D-BDBC-888F-6C5D4AC02CE5}"/>
              </a:ext>
            </a:extLst>
          </p:cNvPr>
          <p:cNvSpPr/>
          <p:nvPr/>
        </p:nvSpPr>
        <p:spPr>
          <a:xfrm>
            <a:off x="5514380" y="1580951"/>
            <a:ext cx="436760" cy="19050"/>
          </a:xfrm>
          <a:prstGeom prst="roundRect">
            <a:avLst>
              <a:gd name="adj" fmla="val 321030"/>
            </a:avLst>
          </a:prstGeom>
          <a:solidFill>
            <a:srgbClr val="B8BFDF"/>
          </a:solidFill>
          <a:ln/>
        </p:spPr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46C6CBEF-A936-C347-399D-7DE2FAF0FDEF}"/>
              </a:ext>
            </a:extLst>
          </p:cNvPr>
          <p:cNvSpPr/>
          <p:nvPr/>
        </p:nvSpPr>
        <p:spPr>
          <a:xfrm>
            <a:off x="5932090" y="1426666"/>
            <a:ext cx="327620" cy="327620"/>
          </a:xfrm>
          <a:prstGeom prst="roundRect">
            <a:avLst>
              <a:gd name="adj" fmla="val 18667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pic>
        <p:nvPicPr>
          <p:cNvPr id="11" name="Image 0" descr="preencoded.png">
            <a:extLst>
              <a:ext uri="{FF2B5EF4-FFF2-40B4-BE49-F238E27FC236}">
                <a16:creationId xmlns:a16="http://schemas.microsoft.com/office/drawing/2014/main" id="{8BAE6DA3-36A4-5D8F-ED63-3278437D08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86710" y="1481286"/>
            <a:ext cx="218380" cy="218380"/>
          </a:xfrm>
          <a:prstGeom prst="rect">
            <a:avLst/>
          </a:prstGeom>
        </p:spPr>
      </p:pic>
      <p:sp>
        <p:nvSpPr>
          <p:cNvPr id="12" name="Text 5">
            <a:extLst>
              <a:ext uri="{FF2B5EF4-FFF2-40B4-BE49-F238E27FC236}">
                <a16:creationId xmlns:a16="http://schemas.microsoft.com/office/drawing/2014/main" id="{2282C528-DFF9-08B0-5B77-E296E3E4FF1E}"/>
              </a:ext>
            </a:extLst>
          </p:cNvPr>
          <p:cNvSpPr/>
          <p:nvPr/>
        </p:nvSpPr>
        <p:spPr>
          <a:xfrm>
            <a:off x="3368774" y="1476672"/>
            <a:ext cx="1999158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416" b="1" dirty="0">
                <a:solidFill>
                  <a:srgbClr val="404155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Week 7</a:t>
            </a:r>
            <a:endParaRPr lang="en-US" sz="141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B6F2E46E-1DEE-223A-2FCD-6A65DE7A3DE4}"/>
              </a:ext>
            </a:extLst>
          </p:cNvPr>
          <p:cNvSpPr/>
          <p:nvPr/>
        </p:nvSpPr>
        <p:spPr>
          <a:xfrm>
            <a:off x="1072455" y="1771352"/>
            <a:ext cx="4295477" cy="412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900"/>
              </a:lnSpc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 selection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7">
            <a:extLst>
              <a:ext uri="{FF2B5EF4-FFF2-40B4-BE49-F238E27FC236}">
                <a16:creationId xmlns:a16="http://schemas.microsoft.com/office/drawing/2014/main" id="{DB926062-43D5-E43A-BD66-921C710835DB}"/>
              </a:ext>
            </a:extLst>
          </p:cNvPr>
          <p:cNvSpPr/>
          <p:nvPr/>
        </p:nvSpPr>
        <p:spPr>
          <a:xfrm>
            <a:off x="6240660" y="2387699"/>
            <a:ext cx="436760" cy="19050"/>
          </a:xfrm>
          <a:prstGeom prst="roundRect">
            <a:avLst>
              <a:gd name="adj" fmla="val 321030"/>
            </a:avLst>
          </a:prstGeom>
          <a:solidFill>
            <a:srgbClr val="B8BFDF"/>
          </a:solidFill>
          <a:ln/>
        </p:spPr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836985AB-E69F-4551-671E-C934F90C9F8F}"/>
              </a:ext>
            </a:extLst>
          </p:cNvPr>
          <p:cNvSpPr/>
          <p:nvPr/>
        </p:nvSpPr>
        <p:spPr>
          <a:xfrm>
            <a:off x="5932090" y="2233414"/>
            <a:ext cx="327620" cy="327620"/>
          </a:xfrm>
          <a:prstGeom prst="roundRect">
            <a:avLst>
              <a:gd name="adj" fmla="val 18667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pic>
        <p:nvPicPr>
          <p:cNvPr id="16" name="Image 1" descr="preencoded.png">
            <a:extLst>
              <a:ext uri="{FF2B5EF4-FFF2-40B4-BE49-F238E27FC236}">
                <a16:creationId xmlns:a16="http://schemas.microsoft.com/office/drawing/2014/main" id="{8267E500-8A5B-3CEF-7503-7BFB7366875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86710" y="2288034"/>
            <a:ext cx="218380" cy="218380"/>
          </a:xfrm>
          <a:prstGeom prst="rect">
            <a:avLst/>
          </a:prstGeom>
        </p:spPr>
      </p:pic>
      <p:sp>
        <p:nvSpPr>
          <p:cNvPr id="17" name="Text 9">
            <a:extLst>
              <a:ext uri="{FF2B5EF4-FFF2-40B4-BE49-F238E27FC236}">
                <a16:creationId xmlns:a16="http://schemas.microsoft.com/office/drawing/2014/main" id="{E8260D1C-A23D-AFE3-F6BD-3F4B665DF859}"/>
              </a:ext>
            </a:extLst>
          </p:cNvPr>
          <p:cNvSpPr/>
          <p:nvPr/>
        </p:nvSpPr>
        <p:spPr>
          <a:xfrm>
            <a:off x="6823869" y="2283420"/>
            <a:ext cx="2224484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16" b="1" dirty="0">
                <a:solidFill>
                  <a:srgbClr val="404155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Week 8</a:t>
            </a:r>
            <a:endParaRPr lang="en-US" sz="141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93FBFFE0-5B7A-0A7D-8D5C-26DC73EDB597}"/>
              </a:ext>
            </a:extLst>
          </p:cNvPr>
          <p:cNvSpPr/>
          <p:nvPr/>
        </p:nvSpPr>
        <p:spPr>
          <a:xfrm>
            <a:off x="6823869" y="2578100"/>
            <a:ext cx="4295576" cy="412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00"/>
              </a:lnSpc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model parameters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1">
            <a:extLst>
              <a:ext uri="{FF2B5EF4-FFF2-40B4-BE49-F238E27FC236}">
                <a16:creationId xmlns:a16="http://schemas.microsoft.com/office/drawing/2014/main" id="{66E8AEFC-3C19-726F-D4A4-0D2D9618990A}"/>
              </a:ext>
            </a:extLst>
          </p:cNvPr>
          <p:cNvSpPr/>
          <p:nvPr/>
        </p:nvSpPr>
        <p:spPr>
          <a:xfrm>
            <a:off x="5514380" y="3107233"/>
            <a:ext cx="436760" cy="19050"/>
          </a:xfrm>
          <a:prstGeom prst="roundRect">
            <a:avLst>
              <a:gd name="adj" fmla="val 321030"/>
            </a:avLst>
          </a:prstGeom>
          <a:solidFill>
            <a:srgbClr val="B8BFDF"/>
          </a:solidFill>
          <a:ln/>
        </p:spPr>
      </p:sp>
      <p:sp>
        <p:nvSpPr>
          <p:cNvPr id="20" name="Shape 12">
            <a:extLst>
              <a:ext uri="{FF2B5EF4-FFF2-40B4-BE49-F238E27FC236}">
                <a16:creationId xmlns:a16="http://schemas.microsoft.com/office/drawing/2014/main" id="{293408FD-0C26-2A1C-36E3-D8FFF57DE2C6}"/>
              </a:ext>
            </a:extLst>
          </p:cNvPr>
          <p:cNvSpPr/>
          <p:nvPr/>
        </p:nvSpPr>
        <p:spPr>
          <a:xfrm>
            <a:off x="5932090" y="2952948"/>
            <a:ext cx="327620" cy="327620"/>
          </a:xfrm>
          <a:prstGeom prst="roundRect">
            <a:avLst>
              <a:gd name="adj" fmla="val 18667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pic>
        <p:nvPicPr>
          <p:cNvPr id="21" name="Image 2" descr="preencoded.png">
            <a:extLst>
              <a:ext uri="{FF2B5EF4-FFF2-40B4-BE49-F238E27FC236}">
                <a16:creationId xmlns:a16="http://schemas.microsoft.com/office/drawing/2014/main" id="{03BC926C-381C-0D42-A962-2AFD93A83C7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86710" y="3007568"/>
            <a:ext cx="218380" cy="218380"/>
          </a:xfrm>
          <a:prstGeom prst="rect">
            <a:avLst/>
          </a:prstGeom>
        </p:spPr>
      </p:pic>
      <p:sp>
        <p:nvSpPr>
          <p:cNvPr id="22" name="Text 13">
            <a:extLst>
              <a:ext uri="{FF2B5EF4-FFF2-40B4-BE49-F238E27FC236}">
                <a16:creationId xmlns:a16="http://schemas.microsoft.com/office/drawing/2014/main" id="{259B7657-FBBB-D702-BC4A-331516CEB89D}"/>
              </a:ext>
            </a:extLst>
          </p:cNvPr>
          <p:cNvSpPr/>
          <p:nvPr/>
        </p:nvSpPr>
        <p:spPr>
          <a:xfrm>
            <a:off x="3460750" y="3002955"/>
            <a:ext cx="1907182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416" b="1" dirty="0">
                <a:solidFill>
                  <a:srgbClr val="404155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Week 9</a:t>
            </a:r>
            <a:endParaRPr lang="en-US" sz="1416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4">
            <a:extLst>
              <a:ext uri="{FF2B5EF4-FFF2-40B4-BE49-F238E27FC236}">
                <a16:creationId xmlns:a16="http://schemas.microsoft.com/office/drawing/2014/main" id="{D66FF1BE-5DA1-CCEE-1B2F-FA6760388A97}"/>
              </a:ext>
            </a:extLst>
          </p:cNvPr>
          <p:cNvSpPr/>
          <p:nvPr/>
        </p:nvSpPr>
        <p:spPr>
          <a:xfrm>
            <a:off x="1072455" y="3297634"/>
            <a:ext cx="4295477" cy="412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900"/>
              </a:lnSpc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model parameters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15">
            <a:extLst>
              <a:ext uri="{FF2B5EF4-FFF2-40B4-BE49-F238E27FC236}">
                <a16:creationId xmlns:a16="http://schemas.microsoft.com/office/drawing/2014/main" id="{1C548190-3EE5-9E85-C414-D57A6A3EA385}"/>
              </a:ext>
            </a:extLst>
          </p:cNvPr>
          <p:cNvSpPr/>
          <p:nvPr/>
        </p:nvSpPr>
        <p:spPr>
          <a:xfrm>
            <a:off x="6240660" y="3826867"/>
            <a:ext cx="436760" cy="19050"/>
          </a:xfrm>
          <a:prstGeom prst="roundRect">
            <a:avLst>
              <a:gd name="adj" fmla="val 321030"/>
            </a:avLst>
          </a:prstGeom>
          <a:solidFill>
            <a:srgbClr val="B8BFDF"/>
          </a:solidFill>
          <a:ln/>
        </p:spPr>
      </p:sp>
      <p:sp>
        <p:nvSpPr>
          <p:cNvPr id="25" name="Shape 16">
            <a:extLst>
              <a:ext uri="{FF2B5EF4-FFF2-40B4-BE49-F238E27FC236}">
                <a16:creationId xmlns:a16="http://schemas.microsoft.com/office/drawing/2014/main" id="{62B0ABD2-6D2A-B044-64E1-96512BB5F4C0}"/>
              </a:ext>
            </a:extLst>
          </p:cNvPr>
          <p:cNvSpPr/>
          <p:nvPr/>
        </p:nvSpPr>
        <p:spPr>
          <a:xfrm>
            <a:off x="5932090" y="3672581"/>
            <a:ext cx="327620" cy="327620"/>
          </a:xfrm>
          <a:prstGeom prst="roundRect">
            <a:avLst>
              <a:gd name="adj" fmla="val 18667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pic>
        <p:nvPicPr>
          <p:cNvPr id="26" name="Image 3" descr="preencoded.png">
            <a:extLst>
              <a:ext uri="{FF2B5EF4-FFF2-40B4-BE49-F238E27FC236}">
                <a16:creationId xmlns:a16="http://schemas.microsoft.com/office/drawing/2014/main" id="{074FEC3C-1FE5-866C-2823-014E4ED8918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986710" y="3727201"/>
            <a:ext cx="218380" cy="218380"/>
          </a:xfrm>
          <a:prstGeom prst="rect">
            <a:avLst/>
          </a:prstGeom>
        </p:spPr>
      </p:pic>
      <p:sp>
        <p:nvSpPr>
          <p:cNvPr id="27" name="Text 17">
            <a:extLst>
              <a:ext uri="{FF2B5EF4-FFF2-40B4-BE49-F238E27FC236}">
                <a16:creationId xmlns:a16="http://schemas.microsoft.com/office/drawing/2014/main" id="{D2ED594A-02E6-0340-9550-C77BFF89E262}"/>
              </a:ext>
            </a:extLst>
          </p:cNvPr>
          <p:cNvSpPr/>
          <p:nvPr/>
        </p:nvSpPr>
        <p:spPr>
          <a:xfrm>
            <a:off x="6823869" y="3722588"/>
            <a:ext cx="1995685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16" b="1" dirty="0">
                <a:solidFill>
                  <a:srgbClr val="404155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Week 10</a:t>
            </a:r>
            <a:endParaRPr lang="en-US" sz="1416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18">
            <a:extLst>
              <a:ext uri="{FF2B5EF4-FFF2-40B4-BE49-F238E27FC236}">
                <a16:creationId xmlns:a16="http://schemas.microsoft.com/office/drawing/2014/main" id="{DD04E48D-2627-03FF-862B-0D8917245D18}"/>
              </a:ext>
            </a:extLst>
          </p:cNvPr>
          <p:cNvSpPr/>
          <p:nvPr/>
        </p:nvSpPr>
        <p:spPr>
          <a:xfrm>
            <a:off x="6823869" y="4017268"/>
            <a:ext cx="4295576" cy="412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prediction accuracy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19">
            <a:extLst>
              <a:ext uri="{FF2B5EF4-FFF2-40B4-BE49-F238E27FC236}">
                <a16:creationId xmlns:a16="http://schemas.microsoft.com/office/drawing/2014/main" id="{EDE1C1A2-236D-2898-0C4F-1C44D1636DCF}"/>
              </a:ext>
            </a:extLst>
          </p:cNvPr>
          <p:cNvSpPr/>
          <p:nvPr/>
        </p:nvSpPr>
        <p:spPr>
          <a:xfrm>
            <a:off x="5514380" y="4546500"/>
            <a:ext cx="436760" cy="19050"/>
          </a:xfrm>
          <a:prstGeom prst="roundRect">
            <a:avLst>
              <a:gd name="adj" fmla="val 321030"/>
            </a:avLst>
          </a:prstGeom>
          <a:solidFill>
            <a:srgbClr val="B8BFDF"/>
          </a:solidFill>
          <a:ln/>
        </p:spPr>
      </p:sp>
      <p:sp>
        <p:nvSpPr>
          <p:cNvPr id="30" name="Shape 20">
            <a:extLst>
              <a:ext uri="{FF2B5EF4-FFF2-40B4-BE49-F238E27FC236}">
                <a16:creationId xmlns:a16="http://schemas.microsoft.com/office/drawing/2014/main" id="{720E9DB7-E53A-95E8-9515-39F625AE7F86}"/>
              </a:ext>
            </a:extLst>
          </p:cNvPr>
          <p:cNvSpPr/>
          <p:nvPr/>
        </p:nvSpPr>
        <p:spPr>
          <a:xfrm>
            <a:off x="5932090" y="4392215"/>
            <a:ext cx="327620" cy="327620"/>
          </a:xfrm>
          <a:prstGeom prst="roundRect">
            <a:avLst>
              <a:gd name="adj" fmla="val 18667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pic>
        <p:nvPicPr>
          <p:cNvPr id="32" name="Image 4" descr="preencoded.png">
            <a:extLst>
              <a:ext uri="{FF2B5EF4-FFF2-40B4-BE49-F238E27FC236}">
                <a16:creationId xmlns:a16="http://schemas.microsoft.com/office/drawing/2014/main" id="{A760CB4D-D493-D3BD-73AA-520979199D3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986710" y="4446835"/>
            <a:ext cx="218380" cy="218380"/>
          </a:xfrm>
          <a:prstGeom prst="rect">
            <a:avLst/>
          </a:prstGeom>
        </p:spPr>
      </p:pic>
      <p:sp>
        <p:nvSpPr>
          <p:cNvPr id="35" name="Text 21">
            <a:extLst>
              <a:ext uri="{FF2B5EF4-FFF2-40B4-BE49-F238E27FC236}">
                <a16:creationId xmlns:a16="http://schemas.microsoft.com/office/drawing/2014/main" id="{241A17E8-9375-55EF-5CF8-DA975E8D0426}"/>
              </a:ext>
            </a:extLst>
          </p:cNvPr>
          <p:cNvSpPr/>
          <p:nvPr/>
        </p:nvSpPr>
        <p:spPr>
          <a:xfrm>
            <a:off x="2909093" y="4442221"/>
            <a:ext cx="2458839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416" b="1" dirty="0">
                <a:solidFill>
                  <a:srgbClr val="404155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Week 11</a:t>
            </a:r>
            <a:endParaRPr lang="en-US" sz="1416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22">
            <a:extLst>
              <a:ext uri="{FF2B5EF4-FFF2-40B4-BE49-F238E27FC236}">
                <a16:creationId xmlns:a16="http://schemas.microsoft.com/office/drawing/2014/main" id="{EAB59D41-3F89-06BA-7887-57CCB41917F8}"/>
              </a:ext>
            </a:extLst>
          </p:cNvPr>
          <p:cNvSpPr/>
          <p:nvPr/>
        </p:nvSpPr>
        <p:spPr>
          <a:xfrm>
            <a:off x="1072455" y="4736901"/>
            <a:ext cx="4295477" cy="412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model performance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different models and select best one</a:t>
            </a:r>
          </a:p>
        </p:txBody>
      </p:sp>
      <p:sp>
        <p:nvSpPr>
          <p:cNvPr id="37" name="Shape 23">
            <a:extLst>
              <a:ext uri="{FF2B5EF4-FFF2-40B4-BE49-F238E27FC236}">
                <a16:creationId xmlns:a16="http://schemas.microsoft.com/office/drawing/2014/main" id="{15B32574-9660-9926-4BB1-DA96516E14F9}"/>
              </a:ext>
            </a:extLst>
          </p:cNvPr>
          <p:cNvSpPr/>
          <p:nvPr/>
        </p:nvSpPr>
        <p:spPr>
          <a:xfrm>
            <a:off x="6240660" y="5266134"/>
            <a:ext cx="436760" cy="19050"/>
          </a:xfrm>
          <a:prstGeom prst="roundRect">
            <a:avLst>
              <a:gd name="adj" fmla="val 321030"/>
            </a:avLst>
          </a:prstGeom>
          <a:solidFill>
            <a:srgbClr val="B8BFDF"/>
          </a:solidFill>
          <a:ln/>
        </p:spPr>
      </p:sp>
      <p:sp>
        <p:nvSpPr>
          <p:cNvPr id="38" name="Shape 24">
            <a:extLst>
              <a:ext uri="{FF2B5EF4-FFF2-40B4-BE49-F238E27FC236}">
                <a16:creationId xmlns:a16="http://schemas.microsoft.com/office/drawing/2014/main" id="{2C3839DF-D78D-C2D2-9413-A2D6A583689E}"/>
              </a:ext>
            </a:extLst>
          </p:cNvPr>
          <p:cNvSpPr/>
          <p:nvPr/>
        </p:nvSpPr>
        <p:spPr>
          <a:xfrm>
            <a:off x="5932090" y="5111849"/>
            <a:ext cx="327620" cy="327620"/>
          </a:xfrm>
          <a:prstGeom prst="roundRect">
            <a:avLst>
              <a:gd name="adj" fmla="val 18667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pic>
        <p:nvPicPr>
          <p:cNvPr id="39" name="Image 5" descr="preencoded.png">
            <a:extLst>
              <a:ext uri="{FF2B5EF4-FFF2-40B4-BE49-F238E27FC236}">
                <a16:creationId xmlns:a16="http://schemas.microsoft.com/office/drawing/2014/main" id="{6E24E110-5729-A2EC-1E69-8ACA5186A69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986710" y="5166469"/>
            <a:ext cx="218380" cy="218380"/>
          </a:xfrm>
          <a:prstGeom prst="rect">
            <a:avLst/>
          </a:prstGeom>
        </p:spPr>
      </p:pic>
      <p:sp>
        <p:nvSpPr>
          <p:cNvPr id="40" name="Text 25">
            <a:extLst>
              <a:ext uri="{FF2B5EF4-FFF2-40B4-BE49-F238E27FC236}">
                <a16:creationId xmlns:a16="http://schemas.microsoft.com/office/drawing/2014/main" id="{6CC49024-9688-F823-6E07-92CD2904E114}"/>
              </a:ext>
            </a:extLst>
          </p:cNvPr>
          <p:cNvSpPr/>
          <p:nvPr/>
        </p:nvSpPr>
        <p:spPr>
          <a:xfrm>
            <a:off x="6823869" y="5161855"/>
            <a:ext cx="1974453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16" b="1" dirty="0">
                <a:solidFill>
                  <a:srgbClr val="404155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Week 12</a:t>
            </a:r>
            <a:endParaRPr lang="en-US" sz="1416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26">
            <a:extLst>
              <a:ext uri="{FF2B5EF4-FFF2-40B4-BE49-F238E27FC236}">
                <a16:creationId xmlns:a16="http://schemas.microsoft.com/office/drawing/2014/main" id="{DE6B278E-40B2-2AFB-EA99-B9BC0293C44F}"/>
              </a:ext>
            </a:extLst>
          </p:cNvPr>
          <p:cNvSpPr/>
          <p:nvPr/>
        </p:nvSpPr>
        <p:spPr>
          <a:xfrm>
            <a:off x="6823869" y="5456535"/>
            <a:ext cx="4295576" cy="412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different models and select best one</a:t>
            </a:r>
          </a:p>
        </p:txBody>
      </p:sp>
      <p:sp>
        <p:nvSpPr>
          <p:cNvPr id="44" name="Title 32">
            <a:extLst>
              <a:ext uri="{FF2B5EF4-FFF2-40B4-BE49-F238E27FC236}">
                <a16:creationId xmlns:a16="http://schemas.microsoft.com/office/drawing/2014/main" id="{E98B048B-2E40-9D25-B649-4CA424CC5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625" y="46285"/>
            <a:ext cx="10515600" cy="1325563"/>
          </a:xfrm>
        </p:spPr>
        <p:txBody>
          <a:bodyPr>
            <a:normAutofit/>
          </a:bodyPr>
          <a:lstStyle/>
          <a:p>
            <a:pPr marL="0" indent="0" algn="ctr">
              <a:lnSpc>
                <a:spcPts val="4250"/>
              </a:lnSpc>
              <a:buNone/>
            </a:pPr>
            <a:r>
              <a:rPr lang="en-US" sz="3200" b="1" u="sng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Phase 2: Model Development &amp; Delivery</a:t>
            </a:r>
            <a:endParaRPr lang="en-US" sz="3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759F3-CEA5-1ED3-3636-D9C80D6CD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8B63-CEEB-40B6-812A-8994CDE1651E}" type="slidenum"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10</a:t>
            </a:fld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4760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 animBg="1"/>
      <p:bldP spid="13" grpId="0" animBg="1"/>
      <p:bldP spid="17" grpId="0" animBg="1"/>
      <p:bldP spid="18" grpId="0" animBg="1"/>
      <p:bldP spid="22" grpId="0" animBg="1"/>
      <p:bldP spid="23" grpId="0" animBg="1"/>
      <p:bldP spid="27" grpId="0" animBg="1"/>
      <p:bldP spid="28" grpId="0" animBg="1"/>
      <p:bldP spid="35" grpId="0" animBg="1"/>
      <p:bldP spid="36" grpId="0" animBg="1"/>
      <p:bldP spid="40" grpId="0" animBg="1"/>
      <p:bldP spid="41" grpId="0" animBg="1"/>
      <p:bldP spid="4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5404CC-BDA9-5361-D0E2-B2A4F80CE07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108"/>
            <a:ext cx="12192000" cy="6860107"/>
          </a:xfrm>
          <a:prstGeom prst="rect">
            <a:avLst/>
          </a:prstGeom>
        </p:spPr>
      </p:pic>
      <p:sp>
        <p:nvSpPr>
          <p:cNvPr id="33" name="Title 32">
            <a:extLst>
              <a:ext uri="{FF2B5EF4-FFF2-40B4-BE49-F238E27FC236}">
                <a16:creationId xmlns:a16="http://schemas.microsoft.com/office/drawing/2014/main" id="{5955B096-B35E-76FF-4F99-1B4302052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3200" b="1" u="sng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Conclusion </a:t>
            </a:r>
            <a:endParaRPr lang="en-US" sz="3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Content Placeholder 33">
            <a:extLst>
              <a:ext uri="{FF2B5EF4-FFF2-40B4-BE49-F238E27FC236}">
                <a16:creationId xmlns:a16="http://schemas.microsoft.com/office/drawing/2014/main" id="{4F11AEAF-25AB-180B-6154-9F182D789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AI-Based CBC Disease Prediction System demonstrates how machine learning and OCR technology can improve healthcare diagnostics.</a:t>
            </a:r>
          </a:p>
          <a:p>
            <a:pPr algn="just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automatically analyzes CBC reports, identifies abnormal blood parameters, and predicts possible diseases.</a:t>
            </a:r>
          </a:p>
          <a:p>
            <a:pPr algn="just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 user-friendly interface for health monitoring and generates clear visual insights and reports.</a:t>
            </a:r>
          </a:p>
          <a:p>
            <a:pPr algn="just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highlights the potential of AI-driven healthcare applications in supporting early diagnosis and improving medical decision-making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25C9A4-25B4-2802-D855-EBE90E330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8B63-CEEB-40B6-812A-8994CDE1651E}" type="slidenum"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11</a:t>
            </a:fld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3013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50B2E4-DEAA-EA86-94DE-8C6066E90A4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108"/>
            <a:ext cx="12192000" cy="6860107"/>
          </a:xfrm>
          <a:prstGeom prst="rect">
            <a:avLst/>
          </a:prstGeom>
        </p:spPr>
      </p:pic>
      <p:sp>
        <p:nvSpPr>
          <p:cNvPr id="33" name="Title 32">
            <a:extLst>
              <a:ext uri="{FF2B5EF4-FFF2-40B4-BE49-F238E27FC236}">
                <a16:creationId xmlns:a16="http://schemas.microsoft.com/office/drawing/2014/main" id="{5955B096-B35E-76FF-4F99-1B4302052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3200" b="1" u="sng" dirty="0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References </a:t>
            </a:r>
            <a:endParaRPr lang="en-US" sz="3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Content Placeholder 33">
            <a:extLst>
              <a:ext uri="{FF2B5EF4-FFF2-40B4-BE49-F238E27FC236}">
                <a16:creationId xmlns:a16="http://schemas.microsoft.com/office/drawing/2014/main" id="{4F11AEAF-25AB-180B-6154-9F182D789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 Documentation –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https://scikit-learn.org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TensorFlow Documentation –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https://www.tensorflow.org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Tesseract OCR Documentation –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https://tesseract-ocr.github.io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Kaggle Medical Datasets –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https://www.kaggle.com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in Healthcare Research Papers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6CD15F-C84B-69A2-1198-352278DB5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8B63-CEEB-40B6-812A-8994CDE1651E}" type="slidenum"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12</a:t>
            </a:fld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8648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F1E2B-794D-834E-16FA-FC2742C1E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5DD749-1CD8-6E35-B52C-C84A3B4EB20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108"/>
            <a:ext cx="12192000" cy="6860107"/>
          </a:xfrm>
          <a:prstGeom prst="rect">
            <a:avLst/>
          </a:prstGeom>
        </p:spPr>
      </p:pic>
      <p:sp>
        <p:nvSpPr>
          <p:cNvPr id="33" name="Title 32">
            <a:extLst>
              <a:ext uri="{FF2B5EF4-FFF2-40B4-BE49-F238E27FC236}">
                <a16:creationId xmlns:a16="http://schemas.microsoft.com/office/drawing/2014/main" id="{6A86B3CB-9F84-6C77-47FF-4C79F0EA4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5163"/>
            <a:ext cx="10515600" cy="1325563"/>
          </a:xfrm>
        </p:spPr>
        <p:txBody>
          <a:bodyPr>
            <a:normAutofit/>
          </a:bodyPr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72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Thank You</a:t>
            </a:r>
            <a:endParaRPr lang="en-US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60935A-FF31-86C9-E6CB-C4D772087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8B63-CEEB-40B6-812A-8994CDE1651E}" type="slidenum"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13</a:t>
            </a:fld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0491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16504</TotalTime>
  <Words>844</Words>
  <Application>Microsoft Office PowerPoint</Application>
  <PresentationFormat>Widescreen</PresentationFormat>
  <Paragraphs>129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Arial</vt:lpstr>
      <vt:lpstr>Calibri</vt:lpstr>
      <vt:lpstr>Calibri Light</vt:lpstr>
      <vt:lpstr>Times New Roman</vt:lpstr>
      <vt:lpstr>Office 2013 - 2022 Theme</vt:lpstr>
      <vt:lpstr>AI for Early Detection</vt:lpstr>
      <vt:lpstr>PowerPoint Presentation</vt:lpstr>
      <vt:lpstr> Roles and Responsibilities</vt:lpstr>
      <vt:lpstr>Introduction to the Project</vt:lpstr>
      <vt:lpstr>Project Goals</vt:lpstr>
      <vt:lpstr>Objectives of the Project</vt:lpstr>
      <vt:lpstr>Key Functionalities</vt:lpstr>
      <vt:lpstr>Methodology / Tools &amp; Technology Used</vt:lpstr>
      <vt:lpstr>Phase 1: Foundation Building</vt:lpstr>
      <vt:lpstr>Phase 2: Model Development &amp; Delivery</vt:lpstr>
      <vt:lpstr> Conclusion </vt:lpstr>
      <vt:lpstr>References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Multi-Step Approach for Plant Disease Identification Using Neutral Network</dc:title>
  <dc:creator>smita upadhyay</dc:creator>
  <cp:lastModifiedBy>deven rudani</cp:lastModifiedBy>
  <cp:revision>99</cp:revision>
  <dcterms:created xsi:type="dcterms:W3CDTF">2023-10-26T06:29:37Z</dcterms:created>
  <dcterms:modified xsi:type="dcterms:W3CDTF">2026-03-07T16:42:17Z</dcterms:modified>
</cp:coreProperties>
</file>